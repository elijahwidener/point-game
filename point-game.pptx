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cost</c:v>
                </c:pt>
              </c:strCache>
            </c:strRef>
          </c:tx>
          <c:spPr>
            <a:solidFill>
              <a:srgbClr val="E8B84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1C1-4D55-9C89-1BDCF08916B0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B1C1-4D55-9C89-1BDCF08916B0}"/>
              </c:ext>
            </c:extLst>
          </c:dPt>
          <c:dPt>
            <c:idx val="2"/>
            <c:invertIfNegative val="0"/>
            <c:bubble3D val="0"/>
            <c:spPr>
              <a:solidFill>
                <a:srgbClr val="6FA8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1C1-4D55-9C89-1BDCF08916B0}"/>
              </c:ext>
            </c:extLst>
          </c:dPt>
          <c:dPt>
            <c:idx val="3"/>
            <c:invertIfNegative val="0"/>
            <c:bubble3D val="0"/>
            <c:spPr>
              <a:solidFill>
                <a:srgbClr val="6FA8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1C1-4D55-9C89-1BDCF08916B0}"/>
              </c:ext>
            </c:extLst>
          </c:dPt>
          <c:dLbls>
            <c:dLbl>
              <c:idx val="1"/>
              <c:tx>
                <c:rich>
                  <a:bodyPr/>
                  <a:lstStyle/>
                  <a:p>
                    <a:r>
                      <a:rPr lang="en-US" dirty="0"/>
                      <a:t>$700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B1C1-4D55-9C89-1BDCF08916B0}"/>
                </c:ext>
              </c:extLst>
            </c:dLbl>
            <c:numFmt formatCode="&quot;$&quot;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CADCFC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WebSocket msgs</c:v>
                </c:pt>
                <c:pt idx="1">
                  <c:v>DynamoDB writes</c:v>
                </c:pt>
                <c:pt idx="2">
                  <c:v>Lambda</c:v>
                </c:pt>
                <c:pt idx="3">
                  <c:v>Connections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1370</c:v>
                </c:pt>
                <c:pt idx="1">
                  <c:v>850</c:v>
                </c:pt>
                <c:pt idx="2">
                  <c:v>250</c:v>
                </c:pt>
                <c:pt idx="3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1C1-4D55-9C89-1BDCF08916B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CADCF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6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0700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389120" cy="6858000"/>
          </a:xfrm>
          <a:prstGeom prst="rect">
            <a:avLst/>
          </a:prstGeom>
          <a:solidFill>
            <a:srgbClr val="1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772400" y="0"/>
            <a:ext cx="18288" cy="6858000"/>
          </a:xfrm>
          <a:prstGeom prst="rect">
            <a:avLst/>
          </a:prstGeom>
          <a:solidFill>
            <a:srgbClr val="3340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0" y="1965960"/>
            <a:ext cx="1371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464040" y="1783080"/>
            <a:ext cx="1371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77240" y="1371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MULTIPLAYER CARD GAME · SERVERLESS ON AWS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1737360"/>
            <a:ext cx="6949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 Game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777240" y="320040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4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GAME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8452120D-3E00-0EAD-6028-ED9ABD051C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1508760"/>
            <a:ext cx="47702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Point Game?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Poker's structure, blackjack's scoring, with a two-sided pot.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1B2540"/>
          </a:solidFill>
          <a:ln w="9525">
            <a:solidFill>
              <a:srgbClr val="3340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8680" y="2468880"/>
            <a:ext cx="566928" cy="566928"/>
          </a:xfrm>
          <a:prstGeom prst="ellipse">
            <a:avLst/>
          </a:prstGeom>
          <a:solidFill>
            <a:srgbClr val="232F4E"/>
          </a:solidFill>
          <a:ln w="15875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45920" y="2459736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Blackjack-style values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45920" y="297180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4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card scores a point value: Ace is 1 or 11, face cards 10, the rest at rank. The value of your hand is the sum.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80760" y="2148840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1B2540"/>
          </a:solidFill>
          <a:ln w="9525">
            <a:solidFill>
              <a:srgbClr val="3340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00800" y="2468880"/>
            <a:ext cx="566928" cy="566928"/>
          </a:xfrm>
          <a:prstGeom prst="ellipse">
            <a:avLst/>
          </a:prstGeom>
          <a:solidFill>
            <a:srgbClr val="232F4E"/>
          </a:solidFill>
          <a:ln w="15875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178040" y="2459736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and low, at once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178040" y="297180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4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strongest high total and the weakest low total each win. Players secretly declare High, Low, or Both before the reveal. </a:t>
            </a:r>
            <a:r>
              <a:rPr lang="en-US" sz="1300" i="1" dirty="0">
                <a:solidFill>
                  <a:srgbClr val="94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win both you must win or tie the high and low.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297680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1B2540"/>
          </a:solidFill>
          <a:ln w="9525">
            <a:solidFill>
              <a:srgbClr val="3340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68680" y="4617720"/>
            <a:ext cx="566928" cy="566928"/>
          </a:xfrm>
          <a:prstGeom prst="ellipse">
            <a:avLst/>
          </a:prstGeom>
          <a:solidFill>
            <a:srgbClr val="232F4E"/>
          </a:solidFill>
          <a:ln w="15875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68680" y="4617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645920" y="4608576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Discard on the board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645920" y="512064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4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community cards appear, any private card matching the board is discarded face-up.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080760" y="4297680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1B2540"/>
          </a:solidFill>
          <a:ln w="9525">
            <a:solidFill>
              <a:srgbClr val="3340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400800" y="4617720"/>
            <a:ext cx="566928" cy="566928"/>
          </a:xfrm>
          <a:prstGeom prst="ellipse">
            <a:avLst/>
          </a:prstGeom>
          <a:solidFill>
            <a:srgbClr val="232F4E"/>
          </a:solidFill>
          <a:ln w="15875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00800" y="4617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178040" y="4608576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 pots &amp; side pots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178040" y="512064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4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pot divides between the high and low sides, across side pots when players are all-in for different amounts.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4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GAME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400" dirty="0"/>
          </a:p>
        </p:txBody>
      </p:sp>
      <p:sp>
        <p:nvSpPr>
          <p:cNvPr id="36" name="Shape 34"/>
          <p:cNvSpPr/>
          <p:nvPr/>
        </p:nvSpPr>
        <p:spPr>
          <a:xfrm>
            <a:off x="502920" y="5713708"/>
            <a:ext cx="11064240" cy="687091"/>
          </a:xfrm>
          <a:prstGeom prst="roundRect">
            <a:avLst>
              <a:gd name="adj" fmla="val 8421"/>
            </a:avLst>
          </a:prstGeom>
          <a:solidFill>
            <a:srgbClr val="1B2540"/>
          </a:solidFill>
          <a:ln w="12700">
            <a:solidFill>
              <a:srgbClr val="9A7B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68680" y="5622913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principle:  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is a stateless cycle.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state → validate → apply → persist → broadcast. </a:t>
            </a:r>
            <a:r>
              <a:rPr lang="en-US" sz="1400" dirty="0">
                <a:solidFill>
                  <a:srgbClr val="94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lives in memory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4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GAME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3AB981E6-A443-AFA3-0DF7-788C0861F4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2081" y="595650"/>
            <a:ext cx="7828798" cy="493646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PATH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player action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2103120"/>
            <a:ext cx="1737360" cy="2743200"/>
          </a:xfrm>
          <a:prstGeom prst="roundRect">
            <a:avLst>
              <a:gd name="adj" fmla="val 4211"/>
            </a:avLst>
          </a:prstGeom>
          <a:solidFill>
            <a:srgbClr val="1B2540"/>
          </a:solidFill>
          <a:ln w="9525">
            <a:solidFill>
              <a:srgbClr val="3340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70432" y="2377440"/>
            <a:ext cx="585216" cy="585216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70432" y="23774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31089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Click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22376" y="3566160"/>
            <a:ext cx="14813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94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validates locally for UX, then sends a WebSocket message.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68296" y="2670048"/>
            <a:ext cx="146304" cy="0"/>
          </a:xfrm>
          <a:prstGeom prst="line">
            <a:avLst/>
          </a:prstGeom>
          <a:noFill/>
          <a:ln w="19050">
            <a:solidFill>
              <a:srgbClr val="E8B84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441448" y="2103120"/>
            <a:ext cx="1737360" cy="2743200"/>
          </a:xfrm>
          <a:prstGeom prst="roundRect">
            <a:avLst>
              <a:gd name="adj" fmla="val 4211"/>
            </a:avLst>
          </a:prstGeom>
          <a:solidFill>
            <a:srgbClr val="1B2540"/>
          </a:solidFill>
          <a:ln w="9525">
            <a:solidFill>
              <a:srgbClr val="3340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017520" y="2377440"/>
            <a:ext cx="585216" cy="585216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017520" y="23774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532888" y="31089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 &amp; auth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2569464" y="3566160"/>
            <a:ext cx="14813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94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routes to the game Lambda; the connection is identified by its </a:t>
            </a:r>
            <a:r>
              <a:rPr lang="en-US" sz="1100" dirty="0" err="1">
                <a:solidFill>
                  <a:srgbClr val="94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connectionID</a:t>
            </a:r>
            <a:r>
              <a:rPr lang="en-US" sz="1100" dirty="0">
                <a:solidFill>
                  <a:srgbClr val="94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15384" y="2670048"/>
            <a:ext cx="146304" cy="0"/>
          </a:xfrm>
          <a:prstGeom prst="line">
            <a:avLst/>
          </a:prstGeom>
          <a:noFill/>
          <a:ln w="19050">
            <a:solidFill>
              <a:srgbClr val="E8B84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288536" y="2103120"/>
            <a:ext cx="1737360" cy="2743200"/>
          </a:xfrm>
          <a:prstGeom prst="roundRect">
            <a:avLst>
              <a:gd name="adj" fmla="val 4211"/>
            </a:avLst>
          </a:prstGeom>
          <a:solidFill>
            <a:srgbClr val="1B2540"/>
          </a:solidFill>
          <a:ln w="9525">
            <a:solidFill>
              <a:srgbClr val="3340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864608" y="2377440"/>
            <a:ext cx="585216" cy="585216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64608" y="23774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379976" y="31089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4416552" y="3566160"/>
            <a:ext cx="14813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94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checks the action against authoritative state (right player, legal amount, etc.)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62472" y="2670048"/>
            <a:ext cx="146304" cy="0"/>
          </a:xfrm>
          <a:prstGeom prst="line">
            <a:avLst/>
          </a:prstGeom>
          <a:noFill/>
          <a:ln w="19050">
            <a:solidFill>
              <a:srgbClr val="E8B84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135624" y="2103120"/>
            <a:ext cx="1737360" cy="2743200"/>
          </a:xfrm>
          <a:prstGeom prst="roundRect">
            <a:avLst>
              <a:gd name="adj" fmla="val 4211"/>
            </a:avLst>
          </a:prstGeom>
          <a:solidFill>
            <a:srgbClr val="1B2540"/>
          </a:solidFill>
          <a:ln w="9525">
            <a:solidFill>
              <a:srgbClr val="3340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711696" y="2377440"/>
            <a:ext cx="585216" cy="585216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711696" y="23774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227064" y="31089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 &amp; Log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6263640" y="3566160"/>
            <a:ext cx="14813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94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state written with a conditional write on the sequence number.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909560" y="2670048"/>
            <a:ext cx="146304" cy="0"/>
          </a:xfrm>
          <a:prstGeom prst="line">
            <a:avLst/>
          </a:prstGeom>
          <a:noFill/>
          <a:ln w="19050">
            <a:solidFill>
              <a:srgbClr val="E8B84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982712" y="2103120"/>
            <a:ext cx="1737360" cy="2743200"/>
          </a:xfrm>
          <a:prstGeom prst="roundRect">
            <a:avLst>
              <a:gd name="adj" fmla="val 4211"/>
            </a:avLst>
          </a:prstGeom>
          <a:solidFill>
            <a:srgbClr val="1B2540"/>
          </a:solidFill>
          <a:ln w="9525">
            <a:solidFill>
              <a:srgbClr val="3340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558784" y="2377440"/>
            <a:ext cx="585216" cy="585216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558784" y="23774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8074152" y="31089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 Timers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8110728" y="3566160"/>
            <a:ext cx="14813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94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an Event Bridge to act as timer for moving the game long.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756648" y="2670048"/>
            <a:ext cx="146304" cy="0"/>
          </a:xfrm>
          <a:prstGeom prst="line">
            <a:avLst/>
          </a:prstGeom>
          <a:noFill/>
          <a:ln w="19050">
            <a:solidFill>
              <a:srgbClr val="E8B84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9829800" y="2103120"/>
            <a:ext cx="1737360" cy="2743200"/>
          </a:xfrm>
          <a:prstGeom prst="roundRect">
            <a:avLst>
              <a:gd name="adj" fmla="val 4211"/>
            </a:avLst>
          </a:prstGeom>
          <a:solidFill>
            <a:srgbClr val="1B2540"/>
          </a:solidFill>
          <a:ln w="9525">
            <a:solidFill>
              <a:srgbClr val="3340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10405872" y="2377440"/>
            <a:ext cx="585216" cy="585216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0405872" y="23774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9921240" y="31089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Broadcast</a:t>
            </a:r>
            <a:endParaRPr lang="en-US" sz="1550" dirty="0"/>
          </a:p>
        </p:txBody>
      </p:sp>
      <p:sp>
        <p:nvSpPr>
          <p:cNvPr id="38" name="Text 36"/>
          <p:cNvSpPr/>
          <p:nvPr/>
        </p:nvSpPr>
        <p:spPr>
          <a:xfrm>
            <a:off x="9957816" y="3566160"/>
            <a:ext cx="14813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94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privacy-filtered view is fanned out to every seat at the table.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280160" y="5212080"/>
            <a:ext cx="9601200" cy="868680"/>
          </a:xfrm>
          <a:prstGeom prst="roundRect">
            <a:avLst>
              <a:gd name="adj" fmla="val 8421"/>
            </a:avLst>
          </a:prstGeom>
          <a:solidFill>
            <a:srgbClr val="232F4E"/>
          </a:solidFill>
          <a:ln w="9525">
            <a:solidFill>
              <a:srgbClr val="3340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1554480" y="521208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4-6 are three separate chunks. </a:t>
            </a: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Lambda dies between them, the system must be able to self heal. This can be done with client resyncs, outbox + atomic writes, or a broadcasting sweeper. 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4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GAME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interesting topics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25780" y="205740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1B2540"/>
          </a:solidFill>
          <a:ln w="9525">
            <a:solidFill>
              <a:srgbClr val="3340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25780" y="2057400"/>
            <a:ext cx="3520440" cy="82296"/>
          </a:xfrm>
          <a:prstGeom prst="roundRect">
            <a:avLst>
              <a:gd name="adj" fmla="val 44444"/>
            </a:avLst>
          </a:prstGeom>
          <a:solidFill>
            <a:srgbClr val="E8B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45820" y="235000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Concurrency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45820" y="2898648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94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Sequence-versioned optimistic writes keep two racing actions from ever corrupting a pot.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20540" y="205740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1B2540"/>
          </a:solidFill>
          <a:ln w="9525">
            <a:solidFill>
              <a:srgbClr val="3340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320540" y="2057400"/>
            <a:ext cx="3520440" cy="82296"/>
          </a:xfrm>
          <a:prstGeom prst="roundRect">
            <a:avLst>
              <a:gd name="adj" fmla="val 44444"/>
            </a:avLst>
          </a:prstGeom>
          <a:solidFill>
            <a:srgbClr val="E8B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40580" y="235000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 timers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640580" y="2898648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94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events fire and ensure stale events are dropped.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15300" y="205740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1B2540"/>
          </a:solidFill>
          <a:ln w="9525">
            <a:solidFill>
              <a:srgbClr val="3340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115300" y="2057400"/>
            <a:ext cx="3520440" cy="82296"/>
          </a:xfrm>
          <a:prstGeom prst="roundRect">
            <a:avLst>
              <a:gd name="adj" fmla="val 44444"/>
            </a:avLst>
          </a:prstGeom>
          <a:solidFill>
            <a:srgbClr val="E8B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435340" y="235000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Private views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435340" y="2898648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94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is filtered per recipient so no hole card or declaration ever leaves the server until showdown.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423160" y="420624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1B2540"/>
          </a:solidFill>
          <a:ln w="9525">
            <a:solidFill>
              <a:srgbClr val="3340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423160" y="4206240"/>
            <a:ext cx="3520440" cy="82296"/>
          </a:xfrm>
          <a:prstGeom prst="roundRect">
            <a:avLst>
              <a:gd name="adj" fmla="val 44444"/>
            </a:avLst>
          </a:prstGeom>
          <a:solidFill>
            <a:srgbClr val="E8B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0" y="449884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Inter-round queue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743200" y="5047488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94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Joins, leaves, and config changes wait in a queue and flush cleanly between hands.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17920" y="420624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1B2540"/>
          </a:solidFill>
          <a:ln w="9525">
            <a:solidFill>
              <a:srgbClr val="3340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217920" y="4206240"/>
            <a:ext cx="3520440" cy="82296"/>
          </a:xfrm>
          <a:prstGeom prst="roundRect">
            <a:avLst>
              <a:gd name="adj" fmla="val 44444"/>
            </a:avLst>
          </a:prstGeom>
          <a:solidFill>
            <a:srgbClr val="E8B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537960" y="449884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Showdown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537960" y="5047488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94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pots, split pots, and multiple winners create a very complicated showdown algorithm.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4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GAME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· CONCURRENCY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Optimistic concurrency, no locks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029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state write is a compare-and-set on a version number.
</a:t>
            </a:r>
            <a:r>
              <a:rPr lang="en-US" sz="1350" dirty="0">
                <a:solidFill>
                  <a:srgbClr val="94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actions read version N. Both try to write expecting N. DynamoDB serializes writes to the item, so exactly one succeeds and bumps to N+1 then the other is rejected and its client resyncs.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703320"/>
            <a:ext cx="201168" cy="201168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96112" y="360273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stuck tables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96112" y="391363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4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crashed lock-holder could freeze a hand.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4544568"/>
            <a:ext cx="201168" cy="201168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96112" y="444398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Contention is very unlikely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96112" y="47548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4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Poker has one legal actor at a time; OCC really guards player-vs-timer races.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5385816"/>
            <a:ext cx="201168" cy="201168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96112" y="528523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One-line mechanism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96112" y="559612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4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 control is a single conditional expression, easy in DynamoDB.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89320" y="1783080"/>
            <a:ext cx="5623560" cy="4343400"/>
          </a:xfrm>
          <a:prstGeom prst="roundRect">
            <a:avLst>
              <a:gd name="adj" fmla="val 2105"/>
            </a:avLst>
          </a:prstGeom>
          <a:solidFill>
            <a:srgbClr val="1B2540"/>
          </a:solidFill>
          <a:ln w="9525">
            <a:solidFill>
              <a:srgbClr val="3340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55080" y="201168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55080" y="2468880"/>
            <a:ext cx="2331720" cy="640080"/>
          </a:xfrm>
          <a:prstGeom prst="roundRect">
            <a:avLst>
              <a:gd name="adj" fmla="val 11429"/>
            </a:avLst>
          </a:prstGeom>
          <a:solidFill>
            <a:srgbClr val="232F4E"/>
          </a:solidFill>
          <a:ln w="15875">
            <a:solidFill>
              <a:srgbClr val="6FA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55080" y="24688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A  ·  reads v5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915400" y="2468880"/>
            <a:ext cx="2331720" cy="640080"/>
          </a:xfrm>
          <a:prstGeom prst="roundRect">
            <a:avLst>
              <a:gd name="adj" fmla="val 11429"/>
            </a:avLst>
          </a:prstGeom>
          <a:solidFill>
            <a:srgbClr val="232F4E"/>
          </a:solidFill>
          <a:ln w="15875">
            <a:solidFill>
              <a:srgbClr val="6FA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915400" y="24688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B  ·  reads v5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516368" y="3108960"/>
            <a:ext cx="0" cy="502920"/>
          </a:xfrm>
          <a:prstGeom prst="line">
            <a:avLst/>
          </a:prstGeom>
          <a:noFill/>
          <a:ln w="19050">
            <a:solidFill>
              <a:srgbClr val="94A3C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0076688" y="3108960"/>
            <a:ext cx="0" cy="502920"/>
          </a:xfrm>
          <a:prstGeom prst="line">
            <a:avLst/>
          </a:prstGeom>
          <a:noFill/>
          <a:ln w="19050">
            <a:solidFill>
              <a:srgbClr val="94A3C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355080" y="3703320"/>
            <a:ext cx="4892040" cy="731520"/>
          </a:xfrm>
          <a:prstGeom prst="roundRect">
            <a:avLst>
              <a:gd name="adj" fmla="val 10000"/>
            </a:avLst>
          </a:prstGeom>
          <a:solidFill>
            <a:srgbClr val="0E1526"/>
          </a:solidFill>
          <a:ln w="15875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355080" y="370332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DynamoDB  ·  write if gameSeq = 5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355080" y="4800600"/>
            <a:ext cx="2331720" cy="1005840"/>
          </a:xfrm>
          <a:prstGeom prst="roundRect">
            <a:avLst>
              <a:gd name="adj" fmla="val 7273"/>
            </a:avLst>
          </a:prstGeom>
          <a:solidFill>
            <a:srgbClr val="16351F"/>
          </a:solidFill>
          <a:ln w="15875">
            <a:solidFill>
              <a:srgbClr val="4FB4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355080" y="480060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4FB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wins
</a:t>
            </a: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gameSeq → 6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915400" y="4800600"/>
            <a:ext cx="2331720" cy="1005840"/>
          </a:xfrm>
          <a:prstGeom prst="roundRect">
            <a:avLst>
              <a:gd name="adj" fmla="val 7273"/>
            </a:avLst>
          </a:prstGeom>
          <a:solidFill>
            <a:srgbClr val="3A1D22"/>
          </a:solidFill>
          <a:ln w="15875">
            <a:solidFill>
              <a:srgbClr val="E055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915400" y="480060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E05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rejected
</a:t>
            </a:r>
            <a:r>
              <a:rPr lang="en-US" sz="1100" b="1" dirty="0">
                <a:solidFill>
                  <a:srgbClr val="CADCFC"/>
                </a:solidFill>
                <a:latin typeface="Courier New" pitchFamily="34" charset="0"/>
                <a:ea typeface="Calibri" pitchFamily="34" charset="-122"/>
                <a:cs typeface="Courier New" pitchFamily="34" charset="-120"/>
              </a:rPr>
              <a:t>Stale </a:t>
            </a:r>
            <a:r>
              <a:rPr lang="en-US" sz="1100" b="1" dirty="0" err="1">
                <a:solidFill>
                  <a:srgbClr val="CADCFC"/>
                </a:solidFill>
                <a:latin typeface="Courier New" pitchFamily="34" charset="0"/>
                <a:ea typeface="Calibri" pitchFamily="34" charset="-122"/>
                <a:cs typeface="Courier New" pitchFamily="34" charset="-120"/>
              </a:rPr>
              <a:t>gameSeq</a:t>
            </a: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→ resync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4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GAME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· TIMERS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timers fire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94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can't wait, so the turn clock lives in </a:t>
            </a:r>
            <a:r>
              <a:rPr lang="en-US" sz="1450" dirty="0" err="1">
                <a:solidFill>
                  <a:srgbClr val="94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EventBridge</a:t>
            </a:r>
            <a:r>
              <a:rPr lang="en-US" sz="1450" dirty="0">
                <a:solidFill>
                  <a:srgbClr val="94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is verified when it fires. </a:t>
            </a:r>
            <a:r>
              <a:rPr lang="en-US" sz="1450" dirty="0" err="1">
                <a:solidFill>
                  <a:srgbClr val="94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timerSeq</a:t>
            </a:r>
            <a:r>
              <a:rPr lang="en-US" sz="1450" dirty="0">
                <a:solidFill>
                  <a:srgbClr val="94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!= </a:t>
            </a:r>
            <a:r>
              <a:rPr lang="en-US" sz="1450" dirty="0" err="1">
                <a:solidFill>
                  <a:srgbClr val="94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gameSeq</a:t>
            </a:r>
            <a:r>
              <a:rPr lang="en-US" sz="1450" dirty="0">
                <a:solidFill>
                  <a:srgbClr val="94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due to other game state updates.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1B2540"/>
          </a:solidFill>
          <a:ln w="13970">
            <a:solidFill>
              <a:srgbClr val="6FA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22402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begins
</a:t>
            </a:r>
            <a:r>
              <a:rPr lang="en-US" sz="1100" dirty="0">
                <a:solidFill>
                  <a:srgbClr val="94A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 state timerSeq = 7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91840" y="2697480"/>
            <a:ext cx="457200" cy="0"/>
          </a:xfrm>
          <a:prstGeom prst="line">
            <a:avLst/>
          </a:prstGeom>
          <a:noFill/>
          <a:ln w="22225">
            <a:solidFill>
              <a:srgbClr val="E8B84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749040" y="2240280"/>
            <a:ext cx="3108960" cy="914400"/>
          </a:xfrm>
          <a:prstGeom prst="roundRect">
            <a:avLst>
              <a:gd name="adj" fmla="val 8000"/>
            </a:avLst>
          </a:prstGeom>
          <a:solidFill>
            <a:srgbClr val="1B2540"/>
          </a:solidFill>
          <a:ln w="1397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886200" y="224028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EventBridge event
</a:t>
            </a:r>
            <a:r>
              <a:rPr lang="en-US" sz="1050" dirty="0">
                <a:solidFill>
                  <a:srgbClr val="94A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fires in 31s · payload timerSeq 7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858000" y="2697480"/>
            <a:ext cx="457200" cy="0"/>
          </a:xfrm>
          <a:prstGeom prst="line">
            <a:avLst/>
          </a:prstGeom>
          <a:noFill/>
          <a:ln w="22225">
            <a:solidFill>
              <a:srgbClr val="E8B84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315200" y="2240280"/>
            <a:ext cx="4297680" cy="914400"/>
          </a:xfrm>
          <a:prstGeom prst="roundRect">
            <a:avLst>
              <a:gd name="adj" fmla="val 8000"/>
            </a:avLst>
          </a:prstGeom>
          <a:solidFill>
            <a:srgbClr val="1B2540"/>
          </a:solidFill>
          <a:ln w="13970">
            <a:solidFill>
              <a:srgbClr val="3340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452360" y="224028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fires · Lambda compares payload to state
</a:t>
            </a: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 timerSeq still 7?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418320" y="3154680"/>
            <a:ext cx="0" cy="457200"/>
          </a:xfrm>
          <a:prstGeom prst="line">
            <a:avLst/>
          </a:prstGeom>
          <a:noFill/>
          <a:ln w="19050">
            <a:solidFill>
              <a:srgbClr val="94A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 flipV="1">
            <a:off x="5943600" y="3611878"/>
            <a:ext cx="3474719" cy="2"/>
          </a:xfrm>
          <a:prstGeom prst="line">
            <a:avLst/>
          </a:prstGeom>
          <a:noFill/>
          <a:ln w="19050">
            <a:solidFill>
              <a:srgbClr val="94A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943600" y="3611880"/>
            <a:ext cx="0" cy="320040"/>
          </a:xfrm>
          <a:prstGeom prst="line">
            <a:avLst/>
          </a:prstGeom>
          <a:noFill/>
          <a:ln w="19050">
            <a:solidFill>
              <a:srgbClr val="4FB47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418320" y="3611880"/>
            <a:ext cx="0" cy="320040"/>
          </a:xfrm>
          <a:prstGeom prst="line">
            <a:avLst/>
          </a:prstGeom>
          <a:noFill/>
          <a:ln w="19050">
            <a:solidFill>
              <a:srgbClr val="E0555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114800" y="3977640"/>
            <a:ext cx="3657600" cy="960120"/>
          </a:xfrm>
          <a:prstGeom prst="roundRect">
            <a:avLst>
              <a:gd name="adj" fmla="val 7619"/>
            </a:avLst>
          </a:prstGeom>
          <a:solidFill>
            <a:srgbClr val="16351F"/>
          </a:solidFill>
          <a:ln w="15875">
            <a:solidFill>
              <a:srgbClr val="4FB4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114800" y="397764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4FB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- player has not acted
</a:t>
            </a: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the c/f through the same game lambda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955280" y="3977640"/>
            <a:ext cx="3657600" cy="960120"/>
          </a:xfrm>
          <a:prstGeom prst="roundRect">
            <a:avLst>
              <a:gd name="adj" fmla="val 7619"/>
            </a:avLst>
          </a:prstGeom>
          <a:solidFill>
            <a:srgbClr val="3A1D22"/>
          </a:solidFill>
          <a:ln w="15875">
            <a:solidFill>
              <a:srgbClr val="E055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955280" y="397764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E05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MISMATCH – player already acted
</a:t>
            </a: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nothing 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48640" y="52578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232F4E"/>
          </a:solidFill>
          <a:ln w="12700">
            <a:solidFill>
              <a:srgbClr val="9A7B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22960" y="52578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cancel the timer when a player acts?  </a:t>
            </a: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is its own race and adds an API call to every action. Letting stale events fire and do nothing is simple, cheap, and always correct.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4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GAME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· PRIVACY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 game state per player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94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sent to a client is public. So the server creates a public state then adds private information per recipient before it ever hits the wire.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200400" cy="3566160"/>
          </a:xfrm>
          <a:prstGeom prst="roundRect">
            <a:avLst>
              <a:gd name="adj" fmla="val 2857"/>
            </a:avLst>
          </a:prstGeom>
          <a:solidFill>
            <a:srgbClr val="1B2540"/>
          </a:solidFill>
          <a:ln w="15875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AUTHORITATIVE STATE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2788920"/>
            <a:ext cx="2651760" cy="384048"/>
          </a:xfrm>
          <a:prstGeom prst="roundRect">
            <a:avLst>
              <a:gd name="adj" fmla="val 14286"/>
            </a:avLst>
          </a:prstGeom>
          <a:solidFill>
            <a:srgbClr val="0E1526"/>
          </a:solidFill>
          <a:ln w="6350">
            <a:solidFill>
              <a:srgbClr val="3340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60120" y="27889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order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2960" y="3264408"/>
            <a:ext cx="2651760" cy="384048"/>
          </a:xfrm>
          <a:prstGeom prst="roundRect">
            <a:avLst>
              <a:gd name="adj" fmla="val 14286"/>
            </a:avLst>
          </a:prstGeom>
          <a:solidFill>
            <a:srgbClr val="0E1526"/>
          </a:solidFill>
          <a:ln w="6350">
            <a:solidFill>
              <a:srgbClr val="3340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60120" y="326440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A's hole cards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2960" y="3739896"/>
            <a:ext cx="2651760" cy="384048"/>
          </a:xfrm>
          <a:prstGeom prst="roundRect">
            <a:avLst>
              <a:gd name="adj" fmla="val 14286"/>
            </a:avLst>
          </a:prstGeom>
          <a:solidFill>
            <a:srgbClr val="0E1526"/>
          </a:solidFill>
          <a:ln w="6350">
            <a:solidFill>
              <a:srgbClr val="3340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60120" y="373989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B's hole cards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4215384"/>
            <a:ext cx="2651760" cy="384048"/>
          </a:xfrm>
          <a:prstGeom prst="roundRect">
            <a:avLst>
              <a:gd name="adj" fmla="val 14286"/>
            </a:avLst>
          </a:prstGeom>
          <a:solidFill>
            <a:srgbClr val="0E1526"/>
          </a:solidFill>
          <a:ln w="6350">
            <a:solidFill>
              <a:srgbClr val="3340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60120" y="421538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C's hole cards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60" y="4690872"/>
            <a:ext cx="2651760" cy="384048"/>
          </a:xfrm>
          <a:prstGeom prst="roundRect">
            <a:avLst>
              <a:gd name="adj" fmla="val 14286"/>
            </a:avLst>
          </a:prstGeom>
          <a:solidFill>
            <a:srgbClr val="0E1526"/>
          </a:solidFill>
          <a:ln w="6350">
            <a:solidFill>
              <a:srgbClr val="3340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60120" y="46908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declarations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22960" y="5166360"/>
            <a:ext cx="2651760" cy="384048"/>
          </a:xfrm>
          <a:prstGeom prst="roundRect">
            <a:avLst>
              <a:gd name="adj" fmla="val 14286"/>
            </a:avLst>
          </a:prstGeom>
          <a:solidFill>
            <a:srgbClr val="0E1526"/>
          </a:solidFill>
          <a:ln w="6350">
            <a:solidFill>
              <a:srgbClr val="3340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60120" y="51663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 &amp; board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749040" y="3931920"/>
            <a:ext cx="457200" cy="0"/>
          </a:xfrm>
          <a:prstGeom prst="line">
            <a:avLst/>
          </a:prstGeom>
          <a:noFill/>
          <a:ln w="22225">
            <a:solidFill>
              <a:srgbClr val="E8B84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251960" y="3337560"/>
            <a:ext cx="1554480" cy="1188720"/>
          </a:xfrm>
          <a:prstGeom prst="roundRect">
            <a:avLst>
              <a:gd name="adj" fmla="val 7692"/>
            </a:avLst>
          </a:prstGeom>
          <a:solidFill>
            <a:srgbClr val="232F4E"/>
          </a:solidFill>
          <a:ln w="19050">
            <a:solidFill>
              <a:srgbClr val="6FA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251960" y="333756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
filter
(</a:t>
            </a:r>
            <a:r>
              <a:rPr lang="en-US" sz="1050" dirty="0">
                <a:solidFill>
                  <a:srgbClr val="94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additive)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806440" y="3931920"/>
            <a:ext cx="457200" cy="0"/>
          </a:xfrm>
          <a:prstGeom prst="line">
            <a:avLst/>
          </a:prstGeom>
          <a:noFill/>
          <a:ln w="22225">
            <a:solidFill>
              <a:srgbClr val="E8B84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355080" y="2148840"/>
            <a:ext cx="5257800" cy="1691640"/>
          </a:xfrm>
          <a:prstGeom prst="roundRect">
            <a:avLst>
              <a:gd name="adj" fmla="val 5405"/>
            </a:avLst>
          </a:prstGeom>
          <a:solidFill>
            <a:srgbClr val="1B2540"/>
          </a:solidFill>
          <a:ln w="9525">
            <a:solidFill>
              <a:srgbClr val="3340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629400" y="23134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Player A sees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675120" y="2843784"/>
            <a:ext cx="164592" cy="164592"/>
          </a:xfrm>
          <a:prstGeom prst="ellipse">
            <a:avLst/>
          </a:prstGeom>
          <a:solidFill>
            <a:srgbClr val="4FB4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949440" y="276148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cards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9281160" y="2843784"/>
            <a:ext cx="164592" cy="164592"/>
          </a:xfrm>
          <a:prstGeom prst="ellipse">
            <a:avLst/>
          </a:prstGeom>
          <a:solidFill>
            <a:srgbClr val="E055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555480" y="276148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B, C cards hidden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675120" y="3300984"/>
            <a:ext cx="164592" cy="164592"/>
          </a:xfrm>
          <a:prstGeom prst="ellipse">
            <a:avLst/>
          </a:prstGeom>
          <a:solidFill>
            <a:srgbClr val="E055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949440" y="321868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Declarations hidden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9555480" y="321868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cards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355080" y="4023360"/>
            <a:ext cx="5257800" cy="1691640"/>
          </a:xfrm>
          <a:prstGeom prst="roundRect">
            <a:avLst>
              <a:gd name="adj" fmla="val 5405"/>
            </a:avLst>
          </a:prstGeom>
          <a:solidFill>
            <a:srgbClr val="1B2540"/>
          </a:solidFill>
          <a:ln w="9525">
            <a:solidFill>
              <a:srgbClr val="3340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629400" y="41879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Player B sees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675120" y="4718304"/>
            <a:ext cx="164592" cy="164592"/>
          </a:xfrm>
          <a:prstGeom prst="ellipse">
            <a:avLst/>
          </a:prstGeom>
          <a:solidFill>
            <a:srgbClr val="4FB4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949440" y="463600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cards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9281160" y="4718304"/>
            <a:ext cx="164592" cy="164592"/>
          </a:xfrm>
          <a:prstGeom prst="ellipse">
            <a:avLst/>
          </a:prstGeom>
          <a:solidFill>
            <a:srgbClr val="E055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9555480" y="463600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A, C cards hidden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675120" y="5175504"/>
            <a:ext cx="164592" cy="164592"/>
          </a:xfrm>
          <a:prstGeom prst="ellipse">
            <a:avLst/>
          </a:prstGeom>
          <a:solidFill>
            <a:srgbClr val="E055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949440" y="509320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Declarations hidden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9281160" y="5175504"/>
            <a:ext cx="164592" cy="164592"/>
          </a:xfrm>
          <a:prstGeom prst="ellipse">
            <a:avLst/>
          </a:prstGeom>
          <a:solidFill>
            <a:srgbClr val="E055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9555480" y="509320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cards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</a:t>
            </a:r>
            <a:r>
              <a:rPr lang="en-US" sz="1300" dirty="0">
                <a:solidFill>
                  <a:srgbClr val="94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filtered payloads per action. Cost can be cut in half by sending action along with game state in one broadcast.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4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GAME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47" name="Shape 23">
            <a:extLst>
              <a:ext uri="{FF2B5EF4-FFF2-40B4-BE49-F238E27FC236}">
                <a16:creationId xmlns:a16="http://schemas.microsoft.com/office/drawing/2014/main" id="{4F1BF508-23FA-E29D-53DC-1F686464AC88}"/>
              </a:ext>
            </a:extLst>
          </p:cNvPr>
          <p:cNvSpPr/>
          <p:nvPr/>
        </p:nvSpPr>
        <p:spPr>
          <a:xfrm>
            <a:off x="9294670" y="3296659"/>
            <a:ext cx="164592" cy="164592"/>
          </a:xfrm>
          <a:prstGeom prst="ellipse">
            <a:avLst/>
          </a:prstGeom>
          <a:solidFill>
            <a:srgbClr val="4FB4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33">
            <a:extLst>
              <a:ext uri="{FF2B5EF4-FFF2-40B4-BE49-F238E27FC236}">
                <a16:creationId xmlns:a16="http://schemas.microsoft.com/office/drawing/2014/main" id="{F5F561C1-D87E-BA2A-0814-049B4E99840F}"/>
              </a:ext>
            </a:extLst>
          </p:cNvPr>
          <p:cNvSpPr/>
          <p:nvPr/>
        </p:nvSpPr>
        <p:spPr>
          <a:xfrm>
            <a:off x="9283384" y="5175504"/>
            <a:ext cx="164592" cy="164592"/>
          </a:xfrm>
          <a:prstGeom prst="ellipse">
            <a:avLst/>
          </a:prstGeom>
          <a:solidFill>
            <a:srgbClr val="4FB477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Nine Tables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4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Single-table design optimizes for join-shaped access, but this system never has reads in that way. Separating out into many tables makes design and implementation simpler.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611880" cy="1143000"/>
          </a:xfrm>
          <a:prstGeom prst="roundRect">
            <a:avLst>
              <a:gd name="adj" fmla="val 6400"/>
            </a:avLst>
          </a:prstGeom>
          <a:solidFill>
            <a:srgbClr val="1B2540"/>
          </a:solidFill>
          <a:ln w="9525">
            <a:solidFill>
              <a:srgbClr val="3340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04672" y="2574036"/>
            <a:ext cx="292608" cy="292608"/>
          </a:xfrm>
          <a:prstGeom prst="ellipse">
            <a:avLst/>
          </a:prstGeom>
          <a:solidFill>
            <a:schemeClr val="accent5">
              <a:lumMod val="7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61872" y="233172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State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61872" y="271576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tableID · one item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61688" y="2148840"/>
            <a:ext cx="3611880" cy="1143000"/>
          </a:xfrm>
          <a:prstGeom prst="roundRect">
            <a:avLst>
              <a:gd name="adj" fmla="val 6400"/>
            </a:avLst>
          </a:prstGeom>
          <a:solidFill>
            <a:srgbClr val="1B2540"/>
          </a:solidFill>
          <a:ln w="9525">
            <a:solidFill>
              <a:srgbClr val="3340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17720" y="2574036"/>
            <a:ext cx="292608" cy="292608"/>
          </a:xfrm>
          <a:prstGeom prst="ellipse">
            <a:avLst/>
          </a:prstGeom>
          <a:solidFill>
            <a:schemeClr val="accent5">
              <a:lumMod val="7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74920" y="233172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Log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74920" y="271576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handID · SK seq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74736" y="2148840"/>
            <a:ext cx="3611880" cy="1143000"/>
          </a:xfrm>
          <a:prstGeom prst="roundRect">
            <a:avLst>
              <a:gd name="adj" fmla="val 6400"/>
            </a:avLst>
          </a:prstGeom>
          <a:solidFill>
            <a:srgbClr val="1B2540"/>
          </a:solidFill>
          <a:ln w="9525">
            <a:solidFill>
              <a:srgbClr val="3340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430768" y="2574036"/>
            <a:ext cx="292608" cy="292608"/>
          </a:xfrm>
          <a:prstGeom prst="ellipse">
            <a:avLst/>
          </a:prstGeom>
          <a:solidFill>
            <a:schemeClr val="accent5">
              <a:lumMod val="7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887968" y="233172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Snapshots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887968" y="271576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replay anchors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511296"/>
            <a:ext cx="3611880" cy="1143000"/>
          </a:xfrm>
          <a:prstGeom prst="roundRect">
            <a:avLst>
              <a:gd name="adj" fmla="val 6400"/>
            </a:avLst>
          </a:prstGeom>
          <a:solidFill>
            <a:srgbClr val="1B2540"/>
          </a:solidFill>
          <a:ln w="9525">
            <a:solidFill>
              <a:srgbClr val="3340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04672" y="3936492"/>
            <a:ext cx="292608" cy="292608"/>
          </a:xfrm>
          <a:prstGeom prst="ellipse">
            <a:avLst/>
          </a:prstGeom>
          <a:solidFill>
            <a:schemeClr val="accent5">
              <a:lumMod val="7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261872" y="3694176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Store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61872" y="4078224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connID ↔ player + GSI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61688" y="3511296"/>
            <a:ext cx="3611880" cy="1143000"/>
          </a:xfrm>
          <a:prstGeom prst="roundRect">
            <a:avLst>
              <a:gd name="adj" fmla="val 6400"/>
            </a:avLst>
          </a:prstGeom>
          <a:solidFill>
            <a:srgbClr val="1B2540"/>
          </a:solidFill>
          <a:ln w="9525">
            <a:solidFill>
              <a:srgbClr val="3340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617720" y="3936492"/>
            <a:ext cx="292608" cy="292608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74920" y="3694176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Timers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074920" y="4078224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scheduled deadlines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174736" y="3511296"/>
            <a:ext cx="3611880" cy="1143000"/>
          </a:xfrm>
          <a:prstGeom prst="roundRect">
            <a:avLst>
              <a:gd name="adj" fmla="val 6400"/>
            </a:avLst>
          </a:prstGeom>
          <a:solidFill>
            <a:srgbClr val="1B2540"/>
          </a:solidFill>
          <a:ln w="9525">
            <a:solidFill>
              <a:srgbClr val="3340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430768" y="3936492"/>
            <a:ext cx="292608" cy="292608"/>
          </a:xfrm>
          <a:prstGeom prst="ellipse">
            <a:avLst/>
          </a:prstGeom>
          <a:solidFill>
            <a:schemeClr val="accent5">
              <a:lumMod val="7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887968" y="3694176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Inter-Round Queue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887968" y="4078224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tableID · SK seq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4873752"/>
            <a:ext cx="3611880" cy="1143000"/>
          </a:xfrm>
          <a:prstGeom prst="roundRect">
            <a:avLst>
              <a:gd name="adj" fmla="val 6400"/>
            </a:avLst>
          </a:prstGeom>
          <a:solidFill>
            <a:srgbClr val="1B2540"/>
          </a:solidFill>
          <a:ln w="9525">
            <a:solidFill>
              <a:srgbClr val="3340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04672" y="5298948"/>
            <a:ext cx="292608" cy="292608"/>
          </a:xfrm>
          <a:prstGeom prst="ellipse">
            <a:avLst/>
          </a:prstGeom>
          <a:solidFill>
            <a:schemeClr val="accent6">
              <a:lumMod val="7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261872" y="505663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261872" y="544068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identity + GSI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361688" y="4873752"/>
            <a:ext cx="3611880" cy="1143000"/>
          </a:xfrm>
          <a:prstGeom prst="roundRect">
            <a:avLst>
              <a:gd name="adj" fmla="val 6400"/>
            </a:avLst>
          </a:prstGeom>
          <a:solidFill>
            <a:srgbClr val="1B2540"/>
          </a:solidFill>
          <a:ln w="9525">
            <a:solidFill>
              <a:srgbClr val="3340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617720" y="5298948"/>
            <a:ext cx="292608" cy="292608"/>
          </a:xfrm>
          <a:prstGeom prst="ellipse">
            <a:avLst/>
          </a:prstGeom>
          <a:solidFill>
            <a:schemeClr val="accent5">
              <a:lumMod val="7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074920" y="505663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5074920" y="544068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chip movements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174736" y="4873752"/>
            <a:ext cx="3611880" cy="1143000"/>
          </a:xfrm>
          <a:prstGeom prst="roundRect">
            <a:avLst>
              <a:gd name="adj" fmla="val 6400"/>
            </a:avLst>
          </a:prstGeom>
          <a:solidFill>
            <a:srgbClr val="1B2540"/>
          </a:solidFill>
          <a:ln w="9525">
            <a:solidFill>
              <a:srgbClr val="3340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8430768" y="5298948"/>
            <a:ext cx="292608" cy="292608"/>
          </a:xfrm>
          <a:prstGeom prst="ellipse">
            <a:avLst/>
          </a:prstGeom>
          <a:solidFill>
            <a:schemeClr val="accent5">
              <a:lumMod val="7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887968" y="505663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Tables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8887968" y="544068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 &amp; status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4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GAME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44" name="Text 2">
            <a:extLst>
              <a:ext uri="{FF2B5EF4-FFF2-40B4-BE49-F238E27FC236}">
                <a16:creationId xmlns:a16="http://schemas.microsoft.com/office/drawing/2014/main" id="{0B62B294-3D2F-88B6-B0BE-402DA480B753}"/>
              </a:ext>
            </a:extLst>
          </p:cNvPr>
          <p:cNvSpPr/>
          <p:nvPr/>
        </p:nvSpPr>
        <p:spPr>
          <a:xfrm>
            <a:off x="2013284" y="6217920"/>
            <a:ext cx="7884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4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wanted to move towards a single table design, all tables in blue could be combined using the </a:t>
            </a:r>
            <a:r>
              <a:rPr lang="en-US" sz="1350" dirty="0" err="1">
                <a:solidFill>
                  <a:srgbClr val="94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tableID</a:t>
            </a:r>
            <a:r>
              <a:rPr lang="en-US" sz="1350" dirty="0">
                <a:solidFill>
                  <a:srgbClr val="94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the PK, and using the SK to classify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Cheapest exactly where it lives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scale, DBs generally push the cost for serverless design. Here, every action costs only a small read and write, which stays cheap even at  scale because of the turn-based nature. The real driver is WebSocket messages: one player action fans out to every seat at the table.</a:t>
            </a:r>
          </a:p>
          <a:p>
            <a:pPr marL="0" indent="0">
              <a:lnSpc>
                <a:spcPct val="116000"/>
              </a:lnSpc>
              <a:buNone/>
            </a:pPr>
            <a:endParaRPr lang="en-US" sz="1400" dirty="0">
              <a:solidFill>
                <a:srgbClr val="CADCF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297180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874520" y="297180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cost per table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93192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1874520" y="393192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write = concurrency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48920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1874520" y="489204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tables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35040" y="1737360"/>
            <a:ext cx="5577840" cy="4160520"/>
          </a:xfrm>
          <a:prstGeom prst="roundRect">
            <a:avLst>
              <a:gd name="adj" fmla="val 2198"/>
            </a:avLst>
          </a:prstGeom>
          <a:solidFill>
            <a:srgbClr val="1B2540"/>
          </a:solidFill>
          <a:ln w="9525">
            <a:solidFill>
              <a:srgbClr val="3340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309360" y="193852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MONTHLY COST · 1,000 CONCURRENT PLAYERS</a:t>
            </a:r>
            <a:endParaRPr lang="en-US" sz="1050" dirty="0"/>
          </a:p>
        </p:txBody>
      </p:sp>
      <p:graphicFrame>
        <p:nvGraphicFramePr>
          <p:cNvPr id="13" name="Chart 0"/>
          <p:cNvGraphicFramePr/>
          <p:nvPr>
            <p:extLst>
              <p:ext uri="{D42A27DB-BD31-4B8C-83A1-F6EECF244321}">
                <p14:modId xmlns:p14="http://schemas.microsoft.com/office/powerpoint/2010/main" val="80703387"/>
              </p:ext>
            </p:extLst>
          </p:nvPr>
        </p:nvGraphicFramePr>
        <p:xfrm>
          <a:off x="6172200" y="2286000"/>
          <a:ext cx="530352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Text 11"/>
          <p:cNvSpPr/>
          <p:nvPr/>
        </p:nvSpPr>
        <p:spPr>
          <a:xfrm>
            <a:off x="6309360" y="55321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4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messages can easily be cut in half if we include more front end lifting.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4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GAME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E15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Defined as much by the roads not taken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Although each alternative below has strengths, they were rejected for specific reasons.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1B2540"/>
          </a:solidFill>
          <a:ln w="9525">
            <a:solidFill>
              <a:srgbClr val="3340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41248" y="24505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Stateful game server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841248" y="294436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in memory, single-writer, trivial timers.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41248" y="3675888"/>
            <a:ext cx="146304" cy="146304"/>
          </a:xfrm>
          <a:prstGeom prst="ellipse">
            <a:avLst/>
          </a:prstGeom>
          <a:solidFill>
            <a:srgbClr val="E055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78992" y="36118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E05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41248" y="3931920"/>
            <a:ext cx="3035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Rejected: idle cost, plus deploys and crash recovery is hard, especially to not lose live hands.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70832" y="219456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1B2540"/>
          </a:solidFill>
          <a:ln w="9525">
            <a:solidFill>
              <a:srgbClr val="33406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663440" y="24505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SQS FIFO per table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4663440" y="294436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Serializes every write, zero conflicts, ever.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663440" y="3675888"/>
            <a:ext cx="146304" cy="146304"/>
          </a:xfrm>
          <a:prstGeom prst="ellipse">
            <a:avLst/>
          </a:prstGeom>
          <a:solidFill>
            <a:srgbClr val="E055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01184" y="36118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E05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663440" y="3931920"/>
            <a:ext cx="3035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Rejected: adds queue latency and is favored for lots of throughput. More complex without the need for it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193024" y="219456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1B2540"/>
          </a:solidFill>
          <a:ln w="9525">
            <a:solidFill>
              <a:srgbClr val="3340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485632" y="24505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Single-table design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8485632" y="294436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typical DynamoDB pattern with fewer tables.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485632" y="3675888"/>
            <a:ext cx="146304" cy="146304"/>
          </a:xfrm>
          <a:prstGeom prst="ellipse">
            <a:avLst/>
          </a:prstGeom>
          <a:solidFill>
            <a:srgbClr val="E055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723376" y="36118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E05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485632" y="3931920"/>
            <a:ext cx="3035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Rejected: it pays off only for join-shaped access this system never has.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89204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232F4E"/>
          </a:solidFill>
          <a:ln w="15875">
            <a:solidFill>
              <a:srgbClr val="9A7B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033272" y="5120640"/>
            <a:ext cx="768096" cy="768096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12700">
            <a:solidFill>
              <a:srgbClr val="FFFFF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057400" y="4892040"/>
            <a:ext cx="9235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Serverless.  </a:t>
            </a: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piece is right-sized to the game. Stateless compute because actions are seconds apart, a key-value store because access is always for a key, scheduled events because turns just need an okay clock. The result costs almost nothing at rest and stays simple under load.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932688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pointgame.live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4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GAME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1226</Words>
  <Application>Microsoft Office PowerPoint</Application>
  <PresentationFormat>Widescreen</PresentationFormat>
  <Paragraphs>182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Widener Ferreira, Elijah</cp:lastModifiedBy>
  <cp:revision>7</cp:revision>
  <dcterms:created xsi:type="dcterms:W3CDTF">2026-07-13T00:39:47Z</dcterms:created>
  <dcterms:modified xsi:type="dcterms:W3CDTF">2026-07-13T10:55:56Z</dcterms:modified>
</cp:coreProperties>
</file>